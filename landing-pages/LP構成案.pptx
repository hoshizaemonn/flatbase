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9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330" y="330"/>
      </p:cViewPr>
      <p:guideLst>
        <p:guide orient="horz" pos="3749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5316-3F6C-46B7-9852-A969A8C1D63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8614-3CD5-4FD3-93DC-13325E27D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3928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5316-3F6C-46B7-9852-A969A8C1D63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8614-3CD5-4FD3-93DC-13325E27D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40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5316-3F6C-46B7-9852-A969A8C1D63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8614-3CD5-4FD3-93DC-13325E27D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7925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5316-3F6C-46B7-9852-A969A8C1D63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8614-3CD5-4FD3-93DC-13325E27D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3238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5316-3F6C-46B7-9852-A969A8C1D63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8614-3CD5-4FD3-93DC-13325E27D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1001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5316-3F6C-46B7-9852-A969A8C1D63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8614-3CD5-4FD3-93DC-13325E27D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1906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5316-3F6C-46B7-9852-A969A8C1D63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8614-3CD5-4FD3-93DC-13325E27D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8348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5316-3F6C-46B7-9852-A969A8C1D63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8614-3CD5-4FD3-93DC-13325E27D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6460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5316-3F6C-46B7-9852-A969A8C1D63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8614-3CD5-4FD3-93DC-13325E27D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7669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5316-3F6C-46B7-9852-A969A8C1D63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8614-3CD5-4FD3-93DC-13325E27D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3815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5316-3F6C-46B7-9852-A969A8C1D63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28614-3CD5-4FD3-93DC-13325E27D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2838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05316-3F6C-46B7-9852-A969A8C1D63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28614-3CD5-4FD3-93DC-13325E27D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7384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hyperlink" Target="https://www.creativefactory-co.jp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rx.dentsuprc.co.jp/blog/pr-event" TargetMode="External"/><Relationship Id="rId5" Type="http://schemas.openxmlformats.org/officeDocument/2006/relationships/hyperlink" Target="https://www.dentsuprc.co.jp/servicemenu/pr-event" TargetMode="Externa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atch-img">
            <a:extLst>
              <a:ext uri="{FF2B5EF4-FFF2-40B4-BE49-F238E27FC236}">
                <a16:creationId xmlns:a16="http://schemas.microsoft.com/office/drawing/2014/main" id="{2AB88FB6-BB6B-4403-06A5-282A67985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5071" y="-51694"/>
            <a:ext cx="4281715" cy="2240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イベントの活版印刷ヘッダー。お祝いや会議の組織のイラスト素材・ベクター Image 169784449">
            <a:extLst>
              <a:ext uri="{FF2B5EF4-FFF2-40B4-BE49-F238E27FC236}">
                <a16:creationId xmlns:a16="http://schemas.microsoft.com/office/drawing/2014/main" id="{A998FA36-9CB3-EB95-D1CD-6AB7D014C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771" y="2424576"/>
            <a:ext cx="4281715" cy="2377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4ED8761-88A0-F11B-2D88-06AF469A50A1}"/>
              </a:ext>
            </a:extLst>
          </p:cNvPr>
          <p:cNvSpPr txBox="1"/>
          <p:nvPr/>
        </p:nvSpPr>
        <p:spPr>
          <a:xfrm>
            <a:off x="222322" y="3916923"/>
            <a:ext cx="6394378" cy="1800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</a:pPr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イベント</a:t>
            </a:r>
            <a:r>
              <a:rPr lang="ja-JP" altLang="en-US" sz="2400" b="1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（プレス向け）</a:t>
            </a: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とは</a:t>
            </a: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  <a:spcAft>
                <a:spcPts val="2100"/>
              </a:spcAft>
            </a:pPr>
            <a:r>
              <a:rPr lang="ja-JP" altLang="en-US" sz="1200" b="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そもそも</a:t>
            </a:r>
            <a:r>
              <a:rPr lang="en-US" altLang="ja-JP" sz="1200" b="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</a:t>
            </a:r>
            <a:r>
              <a:rPr lang="ja-JP" altLang="en-US" sz="1200" b="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イベントとは、企業の商品・サービス・メッセージを、メディアを通じて効果的に届ける</a:t>
            </a:r>
            <a:r>
              <a:rPr lang="en-US" altLang="ja-JP" sz="1200" b="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200" b="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手法です。オンラインからリアルイベントまで形式は多様で、近年はメディアに加え、ブランド親和性の高いインフルエンサーを招いた開催も増えています。</a:t>
            </a:r>
            <a:r>
              <a:rPr lang="en-US" altLang="ja-JP" sz="1200" b="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200" b="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イベントは、ブランドと消費者をつなぐ「架け橋」。メディア露出の創出、エンゲージメントの向上、企業成長を後押しする重要な施策です。</a:t>
            </a:r>
            <a:endParaRPr lang="ja-JP" altLang="en-US" sz="1200" i="0" dirty="0">
              <a:solidFill>
                <a:srgbClr val="212529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8C765D8-E2BF-A219-1886-AC7AF60BABBE}"/>
              </a:ext>
            </a:extLst>
          </p:cNvPr>
          <p:cNvSpPr txBox="1"/>
          <p:nvPr/>
        </p:nvSpPr>
        <p:spPr>
          <a:xfrm>
            <a:off x="222321" y="5951538"/>
            <a:ext cx="6088380" cy="481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</a:pPr>
            <a:r>
              <a:rPr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イベント</a:t>
            </a:r>
            <a:r>
              <a:rPr lang="ja-JP" altLang="en-US" sz="2400" b="1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（プレス向け）</a:t>
            </a: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のポイント</a:t>
            </a: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2100"/>
              </a:spcAft>
            </a:pPr>
            <a:endParaRPr lang="en-US" altLang="ja-JP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  <a:spcAft>
                <a:spcPts val="2100"/>
              </a:spcAft>
            </a:pPr>
            <a:endParaRPr lang="en-US" altLang="ja-JP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  <a:spcAft>
                <a:spcPts val="2100"/>
              </a:spcAft>
            </a:pPr>
            <a:r>
              <a:rPr lang="en-US" altLang="ja-JP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イベントは、多くの場合、広告代理店や</a:t>
            </a:r>
            <a:r>
              <a:rPr lang="en-US" altLang="ja-JP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会社と連携しながら進行します。その中で、イベントは以下の要素を組み合わせて構築されます。</a:t>
            </a:r>
            <a:endParaRPr lang="en-US" altLang="ja-JP" sz="1200" i="0" dirty="0">
              <a:solidFill>
                <a:srgbClr val="212529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28600" lvl="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en-US" altLang="ja-JP" sz="1200" dirty="0">
                <a:solidFill>
                  <a:srgbClr val="21252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目的・KPIの設定</a:t>
            </a:r>
          </a:p>
          <a:p>
            <a:pPr marL="228600" lvl="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ja-JP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会場選定</a:t>
            </a:r>
          </a:p>
          <a:p>
            <a:pPr marL="228600" lvl="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ja-JP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予算管理</a:t>
            </a:r>
          </a:p>
          <a:p>
            <a:pPr marL="228600" lvl="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ja-JP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出演者・登壇者の選定</a:t>
            </a:r>
          </a:p>
          <a:p>
            <a:pPr marL="228600" lvl="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ja-JP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メディア選定（メディアリスト構築／案内状作成・配信）</a:t>
            </a:r>
          </a:p>
          <a:p>
            <a:pPr marL="228600" lvl="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ja-JP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演出・造作</a:t>
            </a:r>
          </a:p>
          <a:p>
            <a:pPr marL="228600" lvl="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ja-JP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実施計画書・進行台本作成</a:t>
            </a:r>
          </a:p>
          <a:p>
            <a:pPr marL="228600" lvl="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ja-JP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イベント当日の運営・進行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28600" lvl="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このうち、目的設計やメディア選定などの上流工程（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1〜5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）は、主に広告代理店・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会社の領域となります。</a:t>
            </a:r>
            <a:endParaRPr lang="ja-JP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32" name="Picture 8" descr="PRイベントの作り方｜イベント企画から開催翌日までの流れを徹底解説 | PR GENIC">
            <a:extLst>
              <a:ext uri="{FF2B5EF4-FFF2-40B4-BE49-F238E27FC236}">
                <a16:creationId xmlns:a16="http://schemas.microsoft.com/office/drawing/2014/main" id="{61D7CF9F-901B-D6E5-D6E1-95497F9C4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3" y="-6230"/>
            <a:ext cx="6858333" cy="3619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F411698-F971-AF01-92AD-18EC2BB8D3F8}"/>
              </a:ext>
            </a:extLst>
          </p:cNvPr>
          <p:cNvSpPr/>
          <p:nvPr/>
        </p:nvSpPr>
        <p:spPr>
          <a:xfrm>
            <a:off x="7396771" y="-652591"/>
            <a:ext cx="4777086" cy="1005784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LP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デザインのデザインイメ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―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ジ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参考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hlinkClick r:id="rId5"/>
              </a:rPr>
              <a:t>https://www.dentsuprc.co.jp/servicemenu/pr-event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hlinkClick r:id="rId6"/>
              </a:rPr>
              <a:t>https://prx.dentsuprc.co.jp/blog/pr-event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hlinkClick r:id="rId7"/>
              </a:rPr>
              <a:t>https://www.creativefactory-co.jp/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https://www.kmcpr.co.jp/lp/pr_009_prevent/?utm_source=google&amp;utm_medium=cpc&amp;utm_term=pr%E3%82%A4%E3%83%99%E3%83%B3%E3%83%88%20%E4%BC%9A%E7%A4%BE&amp;utm_campaign=B01_%E4%B8%80%E8%88%AC&amp;utm_source=adwords&amp;utm_medium=ppc&amp;hsa_acc=9145309358&amp;hsa_cam=1689604686&amp;hsa_grp=171028432458&amp;hsa_ad=720279157085&amp;hsa_src=g&amp;hsa_tgt=kwd-933842639885&amp;hsa_kw=pr%E3%82%A4%E3%83%99%E3%83%B3%E3%83%88%20%E4%BC%9A%E7%A4%BE&amp;hsa_mt=b&amp;hsa_net=adwords&amp;hsa_ver=3&amp;gad_source=1&amp;gad_campaignid=1689604686&amp;gbraid=0AAAAAC5ipKuNwrNwLMVLqXmzOYHIaikDE&amp;gclid=Cj0KCQiAkPzLBhD4ARIsAGfah8it7Zd2qapArRfv2D0syjKzeHZnZgNW9nr6DZPfpFy8vcMILAgERawaAlyJEALw_wcB</a:t>
            </a:r>
          </a:p>
          <a:p>
            <a:pPr algn="ctr"/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B99EBC9-1C22-0280-E4D2-CF057AEE5CDE}"/>
              </a:ext>
            </a:extLst>
          </p:cNvPr>
          <p:cNvSpPr/>
          <p:nvPr/>
        </p:nvSpPr>
        <p:spPr>
          <a:xfrm>
            <a:off x="222321" y="2189268"/>
            <a:ext cx="6088380" cy="110548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2100"/>
              </a:spcAft>
            </a:pPr>
            <a:r>
              <a:rPr lang="en-US" altLang="ja-JP" b="1" dirty="0">
                <a:solidFill>
                  <a:schemeClr val="bg2">
                    <a:lumMod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b="1" dirty="0">
                <a:solidFill>
                  <a:schemeClr val="bg2">
                    <a:lumMod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イベントを成功させるための秘訣を持つ</a:t>
            </a:r>
            <a:endParaRPr lang="en-US" altLang="ja-JP" b="1" dirty="0">
              <a:solidFill>
                <a:schemeClr val="bg2">
                  <a:lumMod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2100"/>
              </a:spcAft>
            </a:pPr>
            <a:r>
              <a:rPr lang="ja-JP" altLang="en-US" b="1" dirty="0">
                <a:solidFill>
                  <a:schemeClr val="bg2">
                    <a:lumMod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業界唯一の制作会社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F4C3730-0C53-C1AA-18B3-DEB89CCE48D3}"/>
              </a:ext>
            </a:extLst>
          </p:cNvPr>
          <p:cNvSpPr/>
          <p:nvPr/>
        </p:nvSpPr>
        <p:spPr>
          <a:xfrm>
            <a:off x="271412" y="6474842"/>
            <a:ext cx="6039289" cy="110548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2100"/>
              </a:spcAft>
            </a:pPr>
            <a:r>
              <a:rPr lang="en-US" altLang="ja-JP" b="1" dirty="0">
                <a:solidFill>
                  <a:schemeClr val="bg2">
                    <a:lumMod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b="1" dirty="0">
                <a:solidFill>
                  <a:schemeClr val="bg2">
                    <a:lumMod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イベント風のイラスト</a:t>
            </a:r>
          </a:p>
        </p:txBody>
      </p:sp>
    </p:spTree>
    <p:extLst>
      <p:ext uri="{BB962C8B-B14F-4D97-AF65-F5344CB8AC3E}">
        <p14:creationId xmlns:p14="http://schemas.microsoft.com/office/powerpoint/2010/main" val="1703626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9779B-1A19-2FC6-9616-352E16432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3F52E5D-6F65-7C0A-12B9-B28E8E047BB7}"/>
              </a:ext>
            </a:extLst>
          </p:cNvPr>
          <p:cNvSpPr txBox="1"/>
          <p:nvPr/>
        </p:nvSpPr>
        <p:spPr>
          <a:xfrm>
            <a:off x="384810" y="333950"/>
            <a:ext cx="6088380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</a:pP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なぜフラットベースが成功させるための</a:t>
            </a: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2100"/>
              </a:spcAft>
            </a:pPr>
            <a:r>
              <a:rPr lang="ja-JP" altLang="en-US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秘訣を持つ業界唯一の制作会社なのか</a:t>
            </a: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2100"/>
              </a:spcAft>
            </a:pPr>
            <a:endParaRPr lang="en-US" altLang="ja-JP" sz="2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2100"/>
              </a:spcAft>
            </a:pPr>
            <a:endParaRPr lang="en-US" altLang="ja-JP" sz="1200" i="0" dirty="0">
              <a:solidFill>
                <a:srgbClr val="212529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2100"/>
              </a:spcAft>
            </a:pPr>
            <a:endParaRPr lang="en-US" altLang="ja-JP" sz="1200" dirty="0">
              <a:solidFill>
                <a:srgbClr val="212529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2100"/>
              </a:spcAft>
            </a:pPr>
            <a:r>
              <a:rPr lang="ja-JP" altLang="en-US" sz="1600" b="1" dirty="0">
                <a:solidFill>
                  <a:srgbClr val="21252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①圧倒的な</a:t>
            </a:r>
            <a:r>
              <a:rPr lang="en-US" altLang="ja-JP" sz="1600" b="1" dirty="0">
                <a:solidFill>
                  <a:srgbClr val="21252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600" b="1" dirty="0">
                <a:solidFill>
                  <a:srgbClr val="21252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イベント実績（年間平均</a:t>
            </a:r>
            <a:r>
              <a:rPr lang="en-US" altLang="ja-JP" sz="1600" b="1" dirty="0">
                <a:solidFill>
                  <a:srgbClr val="21252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60</a:t>
            </a:r>
            <a:r>
              <a:rPr lang="ja-JP" altLang="en-US" sz="1600" b="1" dirty="0">
                <a:solidFill>
                  <a:srgbClr val="21252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</a:t>
            </a:r>
            <a:endParaRPr lang="en-US" altLang="ja-JP" sz="1600" b="1" dirty="0">
              <a:solidFill>
                <a:srgbClr val="212529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2100"/>
              </a:spcAft>
            </a:pPr>
            <a:r>
              <a:rPr lang="en-US" altLang="ja-JP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イベントの成否を左右するのは、企画力だけでなく「実行力」と「現場力」です。フラットベースは</a:t>
            </a:r>
            <a:r>
              <a:rPr lang="en-US" altLang="ja-JP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の考え方を理解したスタッフが、プレス向け</a:t>
            </a:r>
            <a:r>
              <a:rPr lang="en-US" altLang="ja-JP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イベントを数多く手がけてきました。年間約</a:t>
            </a:r>
            <a:r>
              <a:rPr lang="en-US" altLang="ja-JP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500</a:t>
            </a:r>
            <a:r>
              <a:rPr lang="ja-JP" altLang="en-US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件の</a:t>
            </a:r>
            <a:r>
              <a:rPr lang="en-US" altLang="ja-JP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イベントが開催される中、年間平均</a:t>
            </a:r>
            <a:r>
              <a:rPr lang="en-US" altLang="ja-JP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60</a:t>
            </a:r>
            <a:r>
              <a:rPr lang="ja-JP" altLang="en-US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件のプレス向け</a:t>
            </a:r>
            <a:r>
              <a:rPr lang="en-US" altLang="ja-JP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イベントを担当。</a:t>
            </a:r>
            <a:r>
              <a:rPr lang="en-US" altLang="ja-JP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200" i="0" dirty="0">
                <a:solidFill>
                  <a:srgbClr val="212529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イベント制作会社として、トップクラスの実績を誇ります。。</a:t>
            </a:r>
            <a:endParaRPr lang="en-US" altLang="ja-JP" sz="1200" i="0" dirty="0">
              <a:solidFill>
                <a:srgbClr val="212529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2100"/>
              </a:spcAft>
            </a:pPr>
            <a:r>
              <a:rPr lang="ja-JP" altLang="en-US" sz="1600" b="1" dirty="0">
                <a:solidFill>
                  <a:srgbClr val="21252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②制作統括者が業界最大手</a:t>
            </a:r>
            <a:r>
              <a:rPr lang="en-US" altLang="ja-JP" sz="1600" b="1" dirty="0">
                <a:solidFill>
                  <a:srgbClr val="21252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600" b="1" dirty="0">
                <a:solidFill>
                  <a:srgbClr val="21252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会社内のイベント事業部出身</a:t>
            </a:r>
            <a:endParaRPr lang="en-US" altLang="ja-JP" sz="1600" b="1" dirty="0">
              <a:solidFill>
                <a:srgbClr val="212529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2100"/>
              </a:spcAft>
            </a:pPr>
            <a:r>
              <a:rPr lang="ja-JP" altLang="en-US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制作統括者は、業界最大手</a:t>
            </a:r>
            <a:r>
              <a:rPr lang="en-US" altLang="ja-JP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会社にて年間</a:t>
            </a:r>
            <a:r>
              <a:rPr lang="en-US" altLang="ja-JP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300</a:t>
            </a:r>
            <a:r>
              <a:rPr lang="ja-JP" altLang="en-US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件の</a:t>
            </a:r>
            <a:r>
              <a:rPr lang="en-US" altLang="ja-JP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イベントを手がける事業部に所属。</a:t>
            </a:r>
            <a:r>
              <a:rPr lang="en-US" altLang="ja-JP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  <a:r>
              <a:rPr lang="ja-JP" altLang="en-US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年間にわたり管理者として</a:t>
            </a:r>
            <a:r>
              <a:rPr lang="en-US" altLang="ja-JP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イベントおよび</a:t>
            </a:r>
            <a:r>
              <a:rPr lang="en-US" altLang="ja-JP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業界に従事し、他社では見落とされがちな</a:t>
            </a:r>
            <a:r>
              <a:rPr lang="en-US" altLang="ja-JP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視点の重要要素を的確に設計します。長年の実績と信頼を背景に、成果につながる</a:t>
            </a:r>
            <a:r>
              <a:rPr lang="en-US" altLang="ja-JP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イベント制作を実現しています。</a:t>
            </a:r>
            <a:endParaRPr lang="en-US" altLang="ja-JP" sz="1200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2100"/>
              </a:spcAft>
            </a:pPr>
            <a:r>
              <a:rPr kumimoji="0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③ 高いコストパフォーマンス</a:t>
            </a:r>
            <a:endParaRPr kumimoji="0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rgbClr val="212529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>
              <a:spcAft>
                <a:spcPts val="2100"/>
              </a:spcAft>
            </a:pPr>
            <a:r>
              <a:rPr kumimoji="0" lang="ja-JP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長年の実績から、</a:t>
            </a:r>
            <a:r>
              <a:rPr kumimoji="0" lang="en-US" altLang="ja-JP" sz="120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PR</a:t>
            </a:r>
            <a:r>
              <a:rPr kumimoji="0" lang="ja-JP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イベントに特化した協力会社ネットワークを構築。造作・テクニカルを含む必要な体制を、案件ごとに最適に編成します。大手ベンダーに依存せず、</a:t>
            </a:r>
            <a:r>
              <a:rPr kumimoji="0" lang="en-US" altLang="ja-JP" sz="120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PR</a:t>
            </a:r>
            <a:r>
              <a:rPr kumimoji="0" lang="ja-JP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イベント経験が豊富な協力会社と連携することで、無駄のないコスト設計を実現します。</a:t>
            </a:r>
            <a:endParaRPr kumimoji="0" lang="en-US" altLang="ja-JP" sz="1200" i="0" u="none" strike="noStrike" kern="1200" cap="none" spc="0" normalizeH="0" baseline="0" noProof="0" dirty="0">
              <a:ln>
                <a:noFill/>
              </a:ln>
              <a:solidFill>
                <a:srgbClr val="212529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>
              <a:spcAft>
                <a:spcPts val="2100"/>
              </a:spcAft>
            </a:pPr>
            <a:endParaRPr lang="en-US" altLang="ja-JP" sz="1200" dirty="0">
              <a:solidFill>
                <a:srgbClr val="212529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2100"/>
              </a:spcAft>
            </a:pPr>
            <a:r>
              <a:rPr lang="ja-JP" altLang="en-US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我々、フラットベースは実績十分なスタッフが実務を担当し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イベント</a:t>
            </a:r>
            <a:r>
              <a:rPr lang="ja-JP" altLang="en-US" sz="12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（プレス向け）の成功に導きます。ぜひご気軽にご相談ください。</a:t>
            </a:r>
            <a:endParaRPr lang="en-US" altLang="ja-JP" sz="1200" dirty="0">
              <a:solidFill>
                <a:srgbClr val="212529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1AA56DC-2694-903D-409D-80D6C954B7BF}"/>
              </a:ext>
            </a:extLst>
          </p:cNvPr>
          <p:cNvSpPr/>
          <p:nvPr/>
        </p:nvSpPr>
        <p:spPr>
          <a:xfrm>
            <a:off x="384810" y="1540544"/>
            <a:ext cx="6088380" cy="13550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2100"/>
              </a:spcAft>
            </a:pPr>
            <a:r>
              <a:rPr lang="ja-JP" altLang="en-US" b="1" dirty="0">
                <a:solidFill>
                  <a:schemeClr val="bg2">
                    <a:lumMod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制作会社風</a:t>
            </a:r>
            <a:r>
              <a:rPr kumimoji="1" lang="ja-JP" altLang="en-US" dirty="0">
                <a:solidFill>
                  <a:schemeClr val="bg2">
                    <a:lumMod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イラスト　</a:t>
            </a:r>
            <a:r>
              <a:rPr kumimoji="1" lang="en-US" altLang="ja-JP" dirty="0">
                <a:solidFill>
                  <a:schemeClr val="bg2">
                    <a:lumMod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dirty="0">
                <a:solidFill>
                  <a:schemeClr val="bg2">
                    <a:lumMod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フラットベースロゴでもいいかも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4A246A2-C530-DE39-7641-11B015C0A768}"/>
              </a:ext>
            </a:extLst>
          </p:cNvPr>
          <p:cNvSpPr/>
          <p:nvPr/>
        </p:nvSpPr>
        <p:spPr>
          <a:xfrm>
            <a:off x="384810" y="8795904"/>
            <a:ext cx="6219190" cy="402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問い合わせフォーム</a:t>
            </a:r>
          </a:p>
        </p:txBody>
      </p:sp>
    </p:spTree>
    <p:extLst>
      <p:ext uri="{BB962C8B-B14F-4D97-AF65-F5344CB8AC3E}">
        <p14:creationId xmlns:p14="http://schemas.microsoft.com/office/powerpoint/2010/main" val="3012697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</TotalTime>
  <Words>751</Words>
  <Application>Microsoft Office PowerPoint</Application>
  <PresentationFormat>ワイド画面</PresentationFormat>
  <Paragraphs>46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Meiryo UI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雄三 川上</dc:creator>
  <cp:lastModifiedBy>雄三 川上</cp:lastModifiedBy>
  <cp:revision>3</cp:revision>
  <dcterms:created xsi:type="dcterms:W3CDTF">2025-12-25T04:29:43Z</dcterms:created>
  <dcterms:modified xsi:type="dcterms:W3CDTF">2026-02-02T06:51:28Z</dcterms:modified>
</cp:coreProperties>
</file>